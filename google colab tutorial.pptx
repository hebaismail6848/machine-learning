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68" r:id="rId2"/>
    <p:sldId id="269" r:id="rId3"/>
    <p:sldId id="270" r:id="rId4"/>
    <p:sldId id="257" r:id="rId5"/>
    <p:sldId id="267" r:id="rId6"/>
    <p:sldId id="271" r:id="rId7"/>
    <p:sldId id="272" r:id="rId8"/>
    <p:sldId id="261" r:id="rId9"/>
    <p:sldId id="263" r:id="rId10"/>
    <p:sldId id="26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A1D215F-6566-4788-946D-61075FBC9CE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16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BD139F5-882E-4144-8475-00854A6D70B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52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BDC4340-CDCC-42CB-B422-C436B5BB7C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52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862CDA3-F9BA-48A9-B18A-278579BF7A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30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9CB783CE-6DEA-4220-9261-713C936FB4B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1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0B74F7D-8C57-49AE-942C-0B65B7A49FA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11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50913B3-F0A7-4E84-92A9-2432A769FFD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0775257" y="6197599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34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DFAC58FD-A6AA-4A62-BF56-C52B5867996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1001375" y="6172200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8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893B7B4-A553-41B1-92ED-53C3884A45A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3" t="28333" r="28606" b="25832"/>
          <a:stretch/>
        </p:blipFill>
        <p:spPr bwMode="auto">
          <a:xfrm>
            <a:off x="11001375" y="6172200"/>
            <a:ext cx="933450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30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2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29E7-B72C-454D-95A6-60204736828C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7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BD429E7-B72C-454D-95A6-60204736828C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149E3E2-1869-4C15-B1CC-247CDB293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colab.research.google.com/githu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9271-AD3B-4AA2-9AF7-BA4EB5772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498" y="1323975"/>
            <a:ext cx="7315200" cy="2572512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Arial Rounded MT Bold" panose="020F0704030504030204" pitchFamily="34" charset="0"/>
              </a:rPr>
              <a:t>Google Colab Quick Tutorial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CEF8B-9399-488E-A7E0-2B4A2DC4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35" y="4148137"/>
            <a:ext cx="3057525" cy="1304925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190849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B1C481-07E2-4DC5-AF63-07BB90113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200"/>
            <a:ext cx="121920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C7E9-8905-4426-9847-7086FB41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Google Colab?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FBB5-2FF3-40AC-A538-49DA4AF0E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/>
              <a:t>Colaboratory</a:t>
            </a:r>
            <a:r>
              <a:rPr lang="en-US" sz="2400" dirty="0"/>
              <a:t>, or "</a:t>
            </a:r>
            <a:r>
              <a:rPr lang="en-US" sz="2400" b="1" dirty="0">
                <a:solidFill>
                  <a:schemeClr val="accent1"/>
                </a:solidFill>
              </a:rPr>
              <a:t>Colab</a:t>
            </a:r>
            <a:r>
              <a:rPr lang="en-US" sz="2400" dirty="0"/>
              <a:t>" for short, allows you to write and execute Python in your browser, with: </a:t>
            </a:r>
          </a:p>
          <a:p>
            <a:pPr lvl="1"/>
            <a:r>
              <a:rPr lang="en-US" sz="2400" dirty="0"/>
              <a:t>Zero configuration required</a:t>
            </a:r>
          </a:p>
          <a:p>
            <a:pPr lvl="1"/>
            <a:r>
              <a:rPr lang="en-US" sz="2400" dirty="0"/>
              <a:t>Free access to GPUs</a:t>
            </a:r>
          </a:p>
          <a:p>
            <a:pPr lvl="1"/>
            <a:r>
              <a:rPr lang="en-US" sz="2400" dirty="0"/>
              <a:t>Easy sharing</a:t>
            </a:r>
          </a:p>
          <a:p>
            <a:pPr marL="0" indent="0">
              <a:buNone/>
            </a:pPr>
            <a:r>
              <a:rPr lang="en-US" sz="2400" dirty="0"/>
              <a:t>Colab notebooks execute code on Google's cloud servers, meaning you can leverage the power of Google hardware, including </a:t>
            </a:r>
            <a:r>
              <a:rPr lang="en-US" sz="2400" b="1" dirty="0">
                <a:solidFill>
                  <a:schemeClr val="accent1"/>
                </a:solidFill>
              </a:rPr>
              <a:t>GPU</a:t>
            </a:r>
            <a:r>
              <a:rPr lang="en-US" sz="2400" dirty="0"/>
              <a:t>s and </a:t>
            </a:r>
            <a:r>
              <a:rPr lang="en-US" sz="2400" b="1" dirty="0">
                <a:solidFill>
                  <a:schemeClr val="accent1"/>
                </a:solidFill>
              </a:rPr>
              <a:t>TPU</a:t>
            </a:r>
            <a:r>
              <a:rPr lang="en-US" sz="2400" dirty="0"/>
              <a:t>s, regardless of the power of your machine. All you need is a browser. </a:t>
            </a:r>
          </a:p>
          <a:p>
            <a:pPr marL="0" indent="0">
              <a:buNone/>
            </a:pPr>
            <a:r>
              <a:rPr lang="en-US" sz="2400" dirty="0"/>
              <a:t>You can change the hardware accelerator from </a:t>
            </a:r>
            <a:r>
              <a:rPr lang="en-US" sz="2400" b="1" dirty="0"/>
              <a:t>runtime → change runtime type </a:t>
            </a:r>
          </a:p>
        </p:txBody>
      </p:sp>
    </p:spTree>
    <p:extLst>
      <p:ext uri="{BB962C8B-B14F-4D97-AF65-F5344CB8AC3E}">
        <p14:creationId xmlns:p14="http://schemas.microsoft.com/office/powerpoint/2010/main" val="165799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A66C-EB95-405E-BFA7-5D69415D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Code Cells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7ECA-CD87-4131-8449-2FD85C21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8050" y="876300"/>
            <a:ext cx="7736418" cy="5133975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200" dirty="0"/>
              <a:t>A notebook is a list of cells. Cells contain either explanatory text or executable code and its output. Click a cell to select it.</a:t>
            </a:r>
          </a:p>
          <a:p>
            <a:r>
              <a:rPr lang="en-US" sz="2200" dirty="0"/>
              <a:t>There are 2 types of cells in notebook, </a:t>
            </a:r>
            <a:r>
              <a:rPr lang="en-US" sz="2200" b="1" dirty="0">
                <a:solidFill>
                  <a:schemeClr val="accent1"/>
                </a:solidFill>
              </a:rPr>
              <a:t>Text</a:t>
            </a:r>
            <a:r>
              <a:rPr lang="en-US" sz="2200" dirty="0"/>
              <a:t> Cells and </a:t>
            </a:r>
            <a:r>
              <a:rPr lang="en-US" sz="2200" b="1" dirty="0">
                <a:solidFill>
                  <a:schemeClr val="accent1"/>
                </a:solidFill>
              </a:rPr>
              <a:t>Code</a:t>
            </a:r>
            <a:r>
              <a:rPr lang="en-US" sz="2200" dirty="0"/>
              <a:t> cells:</a:t>
            </a:r>
          </a:p>
          <a:p>
            <a:r>
              <a:rPr lang="en-US" dirty="0"/>
              <a:t>You can add new cells by using the </a:t>
            </a:r>
            <a:r>
              <a:rPr lang="en-US" b="1" dirty="0"/>
              <a:t>+ CODE</a:t>
            </a:r>
            <a:r>
              <a:rPr lang="en-US" dirty="0"/>
              <a:t> and </a:t>
            </a:r>
            <a:r>
              <a:rPr lang="en-US" b="1" dirty="0"/>
              <a:t>+ TEXT</a:t>
            </a:r>
            <a:r>
              <a:rPr lang="en-US" dirty="0"/>
              <a:t> buttons that show when you hover between cells. These buttons are also in the toolbar above the notebook where they can be used to add a cell below the currently selected cell.</a:t>
            </a:r>
          </a:p>
          <a:p>
            <a:endParaRPr lang="en-US" dirty="0"/>
          </a:p>
          <a:p>
            <a:pPr marL="0" indent="0">
              <a:buNone/>
            </a:pPr>
            <a:endParaRPr lang="en-US" sz="33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3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300" b="1" u="sng" dirty="0">
                <a:solidFill>
                  <a:schemeClr val="accent1"/>
                </a:solidFill>
              </a:rPr>
              <a:t>Running a Code cell: </a:t>
            </a:r>
          </a:p>
          <a:p>
            <a:r>
              <a:rPr lang="en-US" dirty="0"/>
              <a:t>Click the </a:t>
            </a:r>
            <a:r>
              <a:rPr lang="en-US" b="1" dirty="0"/>
              <a:t>Play icon</a:t>
            </a:r>
            <a:r>
              <a:rPr lang="en-US" dirty="0"/>
              <a:t> in the left gutter of the cell;</a:t>
            </a:r>
          </a:p>
          <a:p>
            <a:r>
              <a:rPr lang="en-US" dirty="0"/>
              <a:t>Type </a:t>
            </a:r>
            <a:r>
              <a:rPr lang="en-US" b="1" dirty="0"/>
              <a:t>Cmd/Ctrl+Enter</a:t>
            </a:r>
            <a:r>
              <a:rPr lang="en-US" dirty="0"/>
              <a:t> to run the cell in place;</a:t>
            </a:r>
          </a:p>
          <a:p>
            <a:r>
              <a:rPr lang="en-US" dirty="0"/>
              <a:t>Type </a:t>
            </a:r>
            <a:r>
              <a:rPr lang="en-US" b="1" dirty="0"/>
              <a:t>Shift+Enter</a:t>
            </a:r>
            <a:r>
              <a:rPr lang="en-US" dirty="0"/>
              <a:t> to run the cell and move focus to the next cell (adding one if none exists)</a:t>
            </a:r>
          </a:p>
          <a:p>
            <a:r>
              <a:rPr lang="en-US" dirty="0"/>
              <a:t>Type </a:t>
            </a:r>
            <a:r>
              <a:rPr lang="en-US" b="1" dirty="0"/>
              <a:t>Alt+Enter</a:t>
            </a:r>
            <a:r>
              <a:rPr lang="en-US" dirty="0"/>
              <a:t> to run the cell and insert a new code cell immediately below it.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9B0307-FCA8-46E1-81FF-BB701A74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49" y="2612887"/>
            <a:ext cx="8115300" cy="93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31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4776-4606-46BD-A02F-49A701CB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817FF-0E6F-4DE1-9D24-0E13F581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42925"/>
            <a:ext cx="7315200" cy="6105525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Forms provide an easy way to parameterize code.</a:t>
            </a:r>
          </a:p>
          <a:p>
            <a:r>
              <a:rPr lang="en-US" dirty="0"/>
              <a:t>To add a new form field: </a:t>
            </a:r>
            <a:r>
              <a:rPr lang="en-US" b="1" dirty="0"/>
              <a:t>insert → add a form field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You can change the view of the form by selecting </a:t>
            </a:r>
            <a:r>
              <a:rPr lang="en-US" b="1" dirty="0"/>
              <a:t>Edit → Show/hide code</a:t>
            </a:r>
            <a:r>
              <a:rPr lang="en-US" dirty="0"/>
              <a:t> or using the toolbar above the selected code cell.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8E156-9B9B-4DEA-B67B-3DAA651C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0" y="2881800"/>
            <a:ext cx="7161847" cy="2652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DE0F5A-3E43-4761-8DCB-CD09763D30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56" b="30350"/>
          <a:stretch/>
        </p:blipFill>
        <p:spPr>
          <a:xfrm>
            <a:off x="4600572" y="1323480"/>
            <a:ext cx="6466521" cy="150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1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722C-9156-4B15-845D-EEE68958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Text Cells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95235-99DF-4110-BD69-7702957B5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636"/>
          <a:stretch/>
        </p:blipFill>
        <p:spPr>
          <a:xfrm>
            <a:off x="4349307" y="2462528"/>
            <a:ext cx="6354062" cy="2452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6FA77A-099A-4280-8A74-1ED2F789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99" y="874101"/>
            <a:ext cx="8115300" cy="14534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E5D5BD-D753-4A98-A2CD-43EBDF21894F}"/>
              </a:ext>
            </a:extLst>
          </p:cNvPr>
          <p:cNvSpPr/>
          <p:nvPr/>
        </p:nvSpPr>
        <p:spPr>
          <a:xfrm>
            <a:off x="3531398" y="5050336"/>
            <a:ext cx="79898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Equations Writing: Just place the statement within a pair of $ signs: 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443873-2C49-48E6-9206-4C6566C15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307" y="5568406"/>
            <a:ext cx="519185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8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79E8-D43B-43ED-ACBD-2AECA1D5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More on cells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C875E-4760-4C39-BE14-26ECF1BCE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Cells selection: </a:t>
            </a:r>
            <a:r>
              <a:rPr lang="en-US" dirty="0"/>
              <a:t>Consecutive cells can be selected by dragging from outside one cell and through the group. Non-adjacent cells can be selected concurrently by clicking one and then holding down Ctrl while clicking another. Similarly, using Shift instead of Ctrl will select all intermediate cells.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Interrupting Execution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Long running python processes can be interrupted. Run the following cell and select </a:t>
            </a:r>
            <a:r>
              <a:rPr lang="en-US" b="1" dirty="0"/>
              <a:t>Runtime -&gt; Interrupt execution</a:t>
            </a:r>
            <a:r>
              <a:rPr lang="en-US" dirty="0"/>
              <a:t> (</a:t>
            </a:r>
            <a:r>
              <a:rPr lang="en-US" i="1" dirty="0"/>
              <a:t>hotkey: Cmd/Ctrl-M I</a:t>
            </a:r>
            <a:r>
              <a:rPr lang="en-US" dirty="0"/>
              <a:t>) to stop execution.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Clear Output: </a:t>
            </a:r>
            <a:r>
              <a:rPr lang="en-US" dirty="0"/>
              <a:t>you can select the cell and clear the output by either:</a:t>
            </a:r>
          </a:p>
          <a:p>
            <a:pPr lvl="1"/>
            <a:r>
              <a:rPr lang="en-US" sz="2000" dirty="0"/>
              <a:t>Clicking on the clear output button (x) in the cell toolbar.</a:t>
            </a:r>
          </a:p>
          <a:p>
            <a:pPr lvl="1"/>
            <a:r>
              <a:rPr lang="en-US" sz="2000" dirty="0"/>
              <a:t>Right clicking the left gutter of the output area and selecting "Clear output" from the context menu.</a:t>
            </a:r>
          </a:p>
          <a:p>
            <a:r>
              <a:rPr lang="en-US" b="1" dirty="0">
                <a:solidFill>
                  <a:schemeClr val="accent1"/>
                </a:solidFill>
              </a:rPr>
              <a:t>Automatic completions: </a:t>
            </a:r>
          </a:p>
          <a:p>
            <a:pPr lvl="1"/>
            <a:r>
              <a:rPr lang="en-US" sz="2000" dirty="0"/>
              <a:t>Colab provides automatic completions to explore attributes of Python objects, as well as to quickly view documentation strings.</a:t>
            </a:r>
          </a:p>
          <a:p>
            <a:pPr lvl="1"/>
            <a:r>
              <a:rPr lang="en-US" sz="2000" dirty="0"/>
              <a:t>Completions can be opened again by using </a:t>
            </a:r>
            <a:r>
              <a:rPr lang="en-US" sz="2000" dirty="0" err="1"/>
              <a:t>Ctrl+Space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8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72E7-516A-4760-860C-219D265E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BCCE-12A8-476D-85E7-63BFD510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have edit or comment permissions you can comment on a cell in one of three ways:</a:t>
            </a:r>
          </a:p>
          <a:p>
            <a:r>
              <a:rPr lang="en-US" dirty="0"/>
              <a:t>Select a cell and click the comment button in the toolbar above the top-right corner of the cell.</a:t>
            </a:r>
          </a:p>
          <a:p>
            <a:r>
              <a:rPr lang="en-US" dirty="0"/>
              <a:t>Right click a text cell and select </a:t>
            </a:r>
            <a:r>
              <a:rPr lang="en-US" b="1" dirty="0"/>
              <a:t>Add a comment</a:t>
            </a:r>
            <a:r>
              <a:rPr lang="en-US" dirty="0"/>
              <a:t> from the context menu.</a:t>
            </a:r>
          </a:p>
          <a:p>
            <a:r>
              <a:rPr lang="en-US" dirty="0"/>
              <a:t>Use the shortcut </a:t>
            </a:r>
            <a:r>
              <a:rPr lang="en-US" b="1" dirty="0" err="1"/>
              <a:t>Ctrl+Shift+M</a:t>
            </a:r>
            <a:r>
              <a:rPr lang="en-US" dirty="0"/>
              <a:t> to add a comment to the currently selected cell.</a:t>
            </a:r>
          </a:p>
          <a:p>
            <a:r>
              <a:rPr lang="en-US" dirty="0"/>
              <a:t>You can resolve and reply to comments, and you can target comments to specific collaborators by typing +[email address] (e.g., +user@domain.com). Addressed collaborators will be emailed.</a:t>
            </a:r>
          </a:p>
          <a:p>
            <a:r>
              <a:rPr lang="en-US" dirty="0"/>
              <a:t>The Comment button in the top-right corner of the page shows all comments attached to the notebook</a:t>
            </a:r>
          </a:p>
        </p:txBody>
      </p:sp>
    </p:spTree>
    <p:extLst>
      <p:ext uri="{BB962C8B-B14F-4D97-AF65-F5344CB8AC3E}">
        <p14:creationId xmlns:p14="http://schemas.microsoft.com/office/powerpoint/2010/main" val="232888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29AC-2A0E-4552-BB9B-FDFCC33B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and installing libraries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EF4908-6ADE-4D11-865A-6D2A6D21A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2561827"/>
            <a:ext cx="7315200" cy="172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7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D29B-921E-4571-9FB6-492B5DC1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with Drive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CBE7E-1CB1-4955-9343-60C77B831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 err="1"/>
              <a:t>Colaboratory</a:t>
            </a:r>
            <a:r>
              <a:rPr lang="en-US" dirty="0"/>
              <a:t> is integrated with Google Drive. </a:t>
            </a:r>
          </a:p>
          <a:p>
            <a:r>
              <a:rPr lang="en-US" dirty="0"/>
              <a:t>The </a:t>
            </a:r>
            <a:r>
              <a:rPr lang="en-US" b="1" dirty="0"/>
              <a:t>SHARE</a:t>
            </a:r>
            <a:r>
              <a:rPr lang="en-US" dirty="0"/>
              <a:t> button (top-right of the toolbar) allows you to share the notebook and control permissions set on it.</a:t>
            </a:r>
          </a:p>
          <a:p>
            <a:r>
              <a:rPr lang="en-US" b="1" dirty="0"/>
              <a:t>File-&gt;Make a Copy</a:t>
            </a:r>
            <a:r>
              <a:rPr lang="en-US" dirty="0"/>
              <a:t> creates a copy of the notebook in Drive.</a:t>
            </a:r>
          </a:p>
          <a:p>
            <a:r>
              <a:rPr lang="en-US" b="1" dirty="0"/>
              <a:t>File-&gt;Save</a:t>
            </a:r>
            <a:r>
              <a:rPr lang="en-US" dirty="0"/>
              <a:t> saves the File to Drive. </a:t>
            </a:r>
            <a:r>
              <a:rPr lang="en-US" b="1" dirty="0"/>
              <a:t>File-&gt;Save and checkpoint</a:t>
            </a:r>
            <a:r>
              <a:rPr lang="en-US" dirty="0"/>
              <a:t> pins the version so it doesn't get deleted from the revision history.</a:t>
            </a:r>
          </a:p>
          <a:p>
            <a:r>
              <a:rPr lang="en-US" b="1" dirty="0"/>
              <a:t>File-&gt;Revision history</a:t>
            </a:r>
            <a:r>
              <a:rPr lang="en-US" dirty="0"/>
              <a:t> shows the notebook's revision history.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Mounting Google Drive in </a:t>
            </a:r>
            <a:r>
              <a:rPr lang="en-US" sz="2400" b="1" dirty="0" err="1">
                <a:solidFill>
                  <a:schemeClr val="accent1"/>
                </a:solidFill>
              </a:rPr>
              <a:t>colab</a:t>
            </a:r>
            <a:endParaRPr lang="en-US" sz="2400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6D901-BA46-47C8-83A5-BDCE6A279A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000"/>
          <a:stretch/>
        </p:blipFill>
        <p:spPr>
          <a:xfrm>
            <a:off x="3981450" y="4194771"/>
            <a:ext cx="7315200" cy="145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91CE-EB3F-4E19-B088-2DB6B8E1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notebooks from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BCAC-BD75-4D89-8377-7EF0C929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Loading Private Notebooks</a:t>
            </a:r>
          </a:p>
          <a:p>
            <a:r>
              <a:rPr lang="en-US" dirty="0"/>
              <a:t>Loading a notebook from a private GitHub repository is possible, but requires an additional step to allow Colab to access your files. Do the following:</a:t>
            </a:r>
          </a:p>
          <a:p>
            <a:r>
              <a:rPr lang="en-US" dirty="0"/>
              <a:t>Navigate to </a:t>
            </a:r>
            <a:r>
              <a:rPr lang="en-US" dirty="0">
                <a:hlinkClick r:id="rId2"/>
              </a:rPr>
              <a:t>http://colab.research.google.com/github</a:t>
            </a:r>
            <a:r>
              <a:rPr lang="en-US" dirty="0"/>
              <a:t> .</a:t>
            </a:r>
          </a:p>
          <a:p>
            <a:r>
              <a:rPr lang="en-US" dirty="0"/>
              <a:t>Click the "Include Private Repos" checkbox.</a:t>
            </a:r>
          </a:p>
          <a:p>
            <a:r>
              <a:rPr lang="en-US" dirty="0"/>
              <a:t>In the popup window, sign-in to your </a:t>
            </a:r>
            <a:r>
              <a:rPr lang="en-US" dirty="0" err="1"/>
              <a:t>Github</a:t>
            </a:r>
            <a:r>
              <a:rPr lang="en-US" dirty="0"/>
              <a:t> account and authorize Colab to read the private files.</a:t>
            </a:r>
          </a:p>
          <a:p>
            <a:r>
              <a:rPr lang="en-US" dirty="0"/>
              <a:t>Your private repositories and notebooks will now be available via the </a:t>
            </a:r>
            <a:r>
              <a:rPr lang="en-US" dirty="0" err="1"/>
              <a:t>github</a:t>
            </a:r>
            <a:r>
              <a:rPr lang="en-US" dirty="0"/>
              <a:t> navigation pane.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Clone a </a:t>
            </a:r>
            <a:r>
              <a:rPr lang="en-US" sz="2400" b="1" dirty="0" err="1">
                <a:solidFill>
                  <a:schemeClr val="accent1"/>
                </a:solidFill>
              </a:rPr>
              <a:t>Github</a:t>
            </a:r>
            <a:r>
              <a:rPr lang="en-US" sz="2400" b="1" dirty="0">
                <a:solidFill>
                  <a:schemeClr val="accent1"/>
                </a:solidFill>
              </a:rPr>
              <a:t> repository:</a:t>
            </a:r>
          </a:p>
          <a:p>
            <a:pPr marL="0" indent="0">
              <a:buNone/>
            </a:pPr>
            <a:r>
              <a:rPr lang="en-US" dirty="0"/>
              <a:t>! git clone </a:t>
            </a:r>
            <a:r>
              <a:rPr lang="en-US" dirty="0" err="1">
                <a:solidFill>
                  <a:schemeClr val="accent3"/>
                </a:solidFill>
              </a:rPr>
              <a:t>repo_link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85962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4957</TotalTime>
  <Words>811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Corbel</vt:lpstr>
      <vt:lpstr>Wingdings 2</vt:lpstr>
      <vt:lpstr>Frame</vt:lpstr>
      <vt:lpstr>Google Colab Quick Tutorial </vt:lpstr>
      <vt:lpstr>PowerPoint Presentation</vt:lpstr>
      <vt:lpstr>What is Google Colab? </vt:lpstr>
      <vt:lpstr>Code Cells </vt:lpstr>
      <vt:lpstr>Forms </vt:lpstr>
      <vt:lpstr>Text Cells </vt:lpstr>
      <vt:lpstr>More on cells </vt:lpstr>
      <vt:lpstr>Comments </vt:lpstr>
      <vt:lpstr>Importing and installing libraries</vt:lpstr>
      <vt:lpstr>Integrating with Drive </vt:lpstr>
      <vt:lpstr>Loading notebooks from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dcterms:created xsi:type="dcterms:W3CDTF">2021-09-20T15:12:21Z</dcterms:created>
  <dcterms:modified xsi:type="dcterms:W3CDTF">2021-09-28T00:00:31Z</dcterms:modified>
</cp:coreProperties>
</file>